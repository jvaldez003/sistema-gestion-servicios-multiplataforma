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033"/>
          </a:solidFill>
          <a:ln w="12700">
            <a:solidFill>
              <a:srgbClr val="1A1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-1828800"/>
            <a:ext cx="6400800" cy="6400800"/>
          </a:xfrm>
          <a:prstGeom prst="ellipse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0" y="-457200"/>
            <a:ext cx="3657600" cy="3657600"/>
          </a:xfrm>
          <a:prstGeom prst="ellipse">
            <a:avLst/>
          </a:prstGeom>
          <a:solidFill>
            <a:srgbClr val="A97BFF"/>
          </a:solidFill>
          <a:ln w="12700">
            <a:solidFill>
              <a:srgbClr val="A97B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716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FlowServ</a:t>
            </a:r>
            <a:endParaRPr lang="en-US" sz="5800" dirty="0"/>
          </a:p>
        </p:txBody>
      </p:sp>
      <p:sp>
        <p:nvSpPr>
          <p:cNvPr id="8" name="Shape 6"/>
          <p:cNvSpPr/>
          <p:nvPr/>
        </p:nvSpPr>
        <p:spPr>
          <a:xfrm>
            <a:off x="731520" y="2670048"/>
            <a:ext cx="2926080" cy="73152"/>
          </a:xfrm>
          <a:prstGeom prst="rect">
            <a:avLst/>
          </a:prstGeom>
          <a:solidFill>
            <a:srgbClr val="A97BFF"/>
          </a:solidFill>
          <a:ln w="12700">
            <a:solidFill>
              <a:srgbClr val="A97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85292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97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Presentación del Proyecto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31520" y="3547872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Plataforma SaaS multitenant para la gestión inteligente de citas,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servicios y empleados en negocios del sector servicios.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6309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Flutter  ·  Firebase  ·  MercadoPago  ·  Colombia 2026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789920" y="65836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7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F"/>
          </a:solidFill>
          <a:ln w="12700">
            <a:solidFill>
              <a:srgbClr val="F8F7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A97BFF"/>
          </a:solidFill>
          <a:ln w="12700">
            <a:solidFill>
              <a:srgbClr val="A97B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A1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 Contenido de la Presentación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896112"/>
            <a:ext cx="10881360" cy="36576"/>
          </a:xfrm>
          <a:prstGeom prst="rect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51560"/>
            <a:ext cx="5440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834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234440"/>
            <a:ext cx="685800" cy="685800"/>
          </a:xfrm>
          <a:prstGeom prst="ellipse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2344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81328" y="116128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1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Problema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81328" y="158191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dificultades enfrentan los negocios de servicios hoy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5440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834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560320"/>
            <a:ext cx="685800" cy="685800"/>
          </a:xfrm>
          <a:prstGeom prst="ellipse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5603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81328" y="248716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1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Nuestra Solución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81328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FlowServ: la plataforma integral de gestión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703320"/>
            <a:ext cx="5440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834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886200"/>
            <a:ext cx="685800" cy="685800"/>
          </a:xfrm>
          <a:prstGeom prst="ellipse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8862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481328" y="381304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1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¿A quién va dirigido?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81328" y="42336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Público objetivo y segmentos de mercado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5029200"/>
            <a:ext cx="5440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834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" y="5212080"/>
            <a:ext cx="685800" cy="685800"/>
          </a:xfrm>
          <a:prstGeom prst="ellipse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52120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481328" y="513892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1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Funcionalidades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481328" y="555955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Módulos principales desarrollados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72200" y="1051560"/>
            <a:ext cx="5440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834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355080" y="1234440"/>
            <a:ext cx="685800" cy="685800"/>
          </a:xfrm>
          <a:prstGeom prst="ellipse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12344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96328" y="116128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1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Arquitectura Técnica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196328" y="158191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Stack, Clean Architecture y estructura del código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72200" y="2377440"/>
            <a:ext cx="5440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834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355080" y="2560320"/>
            <a:ext cx="685800" cy="685800"/>
          </a:xfrm>
          <a:prstGeom prst="ellipse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55080" y="25603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196328" y="248716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1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en vivo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196328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Recorrido por la aplicación funcionando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72200" y="3703320"/>
            <a:ext cx="5440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834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355080" y="3886200"/>
            <a:ext cx="685800" cy="685800"/>
          </a:xfrm>
          <a:prstGeom prst="ellipse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55080" y="38862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196328" y="381304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1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Modelo de Negocio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196328" y="42336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Monetización y propuesta de valor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172200" y="5029200"/>
            <a:ext cx="5440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834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355080" y="5212080"/>
            <a:ext cx="685800" cy="685800"/>
          </a:xfrm>
          <a:prstGeom prst="ellipse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55080" y="52120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196328" y="513892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1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Equipo de Desarrollo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196328" y="555955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Quiénes construimos FlowServ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0789920" y="65836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033"/>
          </a:solidFill>
          <a:ln w="12700">
            <a:solidFill>
              <a:srgbClr val="1A1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 ·  El Problema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841248"/>
            <a:ext cx="10881360" cy="36576"/>
          </a:xfrm>
          <a:prstGeom prst="rect">
            <a:avLst/>
          </a:prstGeom>
          <a:solidFill>
            <a:srgbClr val="A97BFF"/>
          </a:solidFill>
          <a:ln w="12700">
            <a:solidFill>
              <a:srgbClr val="A97B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05840"/>
            <a:ext cx="5349240" cy="1719072"/>
          </a:xfrm>
          <a:prstGeom prst="roundRect">
            <a:avLst>
              <a:gd name="adj" fmla="val 6383"/>
            </a:avLst>
          </a:prstGeom>
          <a:solidFill>
            <a:srgbClr val="5A1FCC"/>
          </a:solidFill>
          <a:ln w="6350">
            <a:solidFill>
              <a:srgbClr val="834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123444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08760" y="1207008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Gestión manual y caótica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1719072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7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Agendas en papel, cuadernos, WhatsApp o notas de voz. Sin trazabilidad ni historial.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5349240" cy="1719072"/>
          </a:xfrm>
          <a:prstGeom prst="roundRect">
            <a:avLst>
              <a:gd name="adj" fmla="val 6383"/>
            </a:avLst>
          </a:prstGeom>
          <a:solidFill>
            <a:srgbClr val="5A1FCC"/>
          </a:solidFill>
          <a:ln w="6350">
            <a:solidFill>
              <a:srgbClr val="834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15468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08760" y="3127248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Conflictos de horario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85800" y="3639312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7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Doble reserva del mismo empleado o recurso por falta de sistema de bloqueo en tiempo real.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4846320"/>
            <a:ext cx="5349240" cy="1719072"/>
          </a:xfrm>
          <a:prstGeom prst="roundRect">
            <a:avLst>
              <a:gd name="adj" fmla="val 6383"/>
            </a:avLst>
          </a:prstGeom>
          <a:solidFill>
            <a:srgbClr val="5A1FCC"/>
          </a:solidFill>
          <a:ln w="6350">
            <a:solidFill>
              <a:srgbClr val="834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507492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💸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08760" y="5047488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Pérdida de ingresos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85800" y="5559552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7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 control de comisiones, sin cierre de caja, sin saber si el negocio es rentable.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80760" y="1005840"/>
            <a:ext cx="5349240" cy="1719072"/>
          </a:xfrm>
          <a:prstGeom prst="roundRect">
            <a:avLst>
              <a:gd name="adj" fmla="val 6383"/>
            </a:avLst>
          </a:prstGeom>
          <a:solidFill>
            <a:srgbClr val="5A1FCC"/>
          </a:solidFill>
          <a:ln w="6350">
            <a:solidFill>
              <a:srgbClr val="834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09360" y="123444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132320" y="1207008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Invisibilidad digital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309360" y="1719072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7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clientes no pueden encontrar al negocio en línea ni agendar sin llamar.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80760" y="2926080"/>
            <a:ext cx="5349240" cy="1719072"/>
          </a:xfrm>
          <a:prstGeom prst="roundRect">
            <a:avLst>
              <a:gd name="adj" fmla="val 6383"/>
            </a:avLst>
          </a:prstGeom>
          <a:solidFill>
            <a:srgbClr val="5A1FCC"/>
          </a:solidFill>
          <a:ln w="6350">
            <a:solidFill>
              <a:srgbClr val="834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309360" y="315468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132320" y="3127248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Alta rotación de clientes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309360" y="3639312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7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 historial, sin recordatorios, sin fidelización. El cliente se va y no vuelve.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080760" y="4846320"/>
            <a:ext cx="5349240" cy="1719072"/>
          </a:xfrm>
          <a:prstGeom prst="roundRect">
            <a:avLst>
              <a:gd name="adj" fmla="val 6383"/>
            </a:avLst>
          </a:prstGeom>
          <a:solidFill>
            <a:srgbClr val="5A1FCC"/>
          </a:solidFill>
          <a:ln w="6350">
            <a:solidFill>
              <a:srgbClr val="834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309360" y="507492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132320" y="5047488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Gestión de personal improvisada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309360" y="5559552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7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 control de horarios, dias laborales, especialidades ni proceso de contratación.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0789920" y="65836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7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F"/>
          </a:solidFill>
          <a:ln w="12700">
            <a:solidFill>
              <a:srgbClr val="F8F7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A97BFF"/>
          </a:solidFill>
          <a:ln w="12700">
            <a:solidFill>
              <a:srgbClr val="A97B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A1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 ·  Nuestra Solución: FlowServ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841248"/>
            <a:ext cx="10881360" cy="36576"/>
          </a:xfrm>
          <a:prstGeom prst="rect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87552"/>
            <a:ext cx="112471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834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1051560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FlowServ es una plataforma SaaS móvil multitenant que permite a cualquier negocio de servicios gestionar citas, empleados, pagos y clientes desde un único lugar — disponible en Android e iOS.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6350">
            <a:solidFill>
              <a:srgbClr val="834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423160"/>
            <a:ext cx="685800" cy="685800"/>
          </a:xfrm>
          <a:prstGeom prst="ellipse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4231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36192" y="24231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1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Motor de agendamiento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31520" y="301752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Selección de servicios, profesional y horario con validación anti-conflictos en tiempo real.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60520" y="214884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6350">
            <a:solidFill>
              <a:srgbClr val="834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34840" y="2423160"/>
            <a:ext cx="685800" cy="685800"/>
          </a:xfrm>
          <a:prstGeom prst="ellipse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24231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239512" y="24231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1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Gestión de equipo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434840" y="301752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Postulaciones con CV, invitaciones directas, comisiones y horarios por empleado.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863840" y="214884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6350">
            <a:solidFill>
              <a:srgbClr val="834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38160" y="2423160"/>
            <a:ext cx="685800" cy="685800"/>
          </a:xfrm>
          <a:prstGeom prst="ellipse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0" y="24231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💳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942832" y="24231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1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Pagos digitales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138160" y="301752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Integración con MercadoPago y PayU. Historial de transacciones y reembolsos.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38912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6350">
            <a:solidFill>
              <a:srgbClr val="834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1520" y="4663440"/>
            <a:ext cx="685800" cy="685800"/>
          </a:xfrm>
          <a:prstGeom prst="ellipse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6634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536192" y="46634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1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financiero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31520" y="525780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KPIs, reportes de horas pico, comisiones acumuladas y cierre de caja diario.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160520" y="438912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6350">
            <a:solidFill>
              <a:srgbClr val="834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434840" y="4663440"/>
            <a:ext cx="685800" cy="685800"/>
          </a:xfrm>
          <a:prstGeom prst="ellipse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34840" y="46634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📣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239512" y="46634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1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Feed social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434840" y="525780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Publicaciones de trabajos con likes, comentarios y guardados para fidelizar clientes.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863840" y="438912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6350">
            <a:solidFill>
              <a:srgbClr val="834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138160" y="4663440"/>
            <a:ext cx="685800" cy="685800"/>
          </a:xfrm>
          <a:prstGeom prst="ellipse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38160" y="46634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🎁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942832" y="46634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1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Programa de fidelización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138160" y="525780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Puntos, sellos, cupones y recordatorios automáticos para retener clientes.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789920" y="65836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033"/>
          </a:solidFill>
          <a:ln w="12700">
            <a:solidFill>
              <a:srgbClr val="1A1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 ·  ¿A Quién Va Dirigido?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841248"/>
            <a:ext cx="10881360" cy="36576"/>
          </a:xfrm>
          <a:prstGeom prst="rect">
            <a:avLst/>
          </a:prstGeom>
          <a:solidFill>
            <a:srgbClr val="A97BFF"/>
          </a:solidFill>
          <a:ln w="12700">
            <a:solidFill>
              <a:srgbClr val="A97B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005840"/>
            <a:ext cx="3657600" cy="5166360"/>
          </a:xfrm>
          <a:prstGeom prst="roundRect">
            <a:avLst>
              <a:gd name="adj" fmla="val 3000"/>
            </a:avLst>
          </a:prstGeom>
          <a:solidFill>
            <a:srgbClr val="5A1FCC"/>
          </a:solidFill>
          <a:ln w="6350">
            <a:solidFill>
              <a:srgbClr val="834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74520" y="1097280"/>
            <a:ext cx="731520" cy="731520"/>
          </a:xfrm>
          <a:prstGeom prst="ellipse">
            <a:avLst/>
          </a:prstGeom>
          <a:solidFill>
            <a:srgbClr val="A97BFF"/>
          </a:solidFill>
          <a:ln w="12700">
            <a:solidFill>
              <a:srgbClr val="A97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74520" y="1097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94360" y="19659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97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Cliente / Usuario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60120" y="2542032"/>
            <a:ext cx="2560320" cy="36576"/>
          </a:xfrm>
          <a:prstGeom prst="rect">
            <a:avLst/>
          </a:prstGeom>
          <a:solidFill>
            <a:srgbClr val="A97BFF"/>
          </a:solidFill>
          <a:ln w="12700">
            <a:solidFill>
              <a:srgbClr val="A97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724912"/>
            <a:ext cx="3246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Busca negocios cercanos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85800" y="3346704"/>
            <a:ext cx="3246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Agenda citas en segundos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85800" y="3968496"/>
            <a:ext cx="3246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Acumula puntos y canjes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85800" y="4590288"/>
            <a:ext cx="3246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Ve trabajos en el feed social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297680" y="1005840"/>
            <a:ext cx="3657600" cy="5166360"/>
          </a:xfrm>
          <a:prstGeom prst="roundRect">
            <a:avLst>
              <a:gd name="adj" fmla="val 3000"/>
            </a:avLst>
          </a:prstGeom>
          <a:solidFill>
            <a:srgbClr val="5A1FCC"/>
          </a:solidFill>
          <a:ln w="6350">
            <a:solidFill>
              <a:srgbClr val="834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60720" y="1097280"/>
            <a:ext cx="731520" cy="73152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1097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✂️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480560" y="19659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Dueño / Administrador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46320" y="2542032"/>
            <a:ext cx="2560320" cy="3657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2724912"/>
            <a:ext cx="3246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Registra y configura su negocio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0" y="3346704"/>
            <a:ext cx="3246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Gestiona equipo y servicios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0" y="3968496"/>
            <a:ext cx="3246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Controla finanzas y reportes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0" y="4590288"/>
            <a:ext cx="3246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Publica contenido de trabajos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183880" y="1005840"/>
            <a:ext cx="3657600" cy="5166360"/>
          </a:xfrm>
          <a:prstGeom prst="roundRect">
            <a:avLst>
              <a:gd name="adj" fmla="val 3000"/>
            </a:avLst>
          </a:prstGeom>
          <a:solidFill>
            <a:srgbClr val="5A1FCC"/>
          </a:solidFill>
          <a:ln w="6350">
            <a:solidFill>
              <a:srgbClr val="834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646920" y="1097280"/>
            <a:ext cx="731520" cy="73152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46920" y="1097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💼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366760" y="19659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Empleado / Profesional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732520" y="2542032"/>
            <a:ext cx="2560320" cy="36576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58200" y="2724912"/>
            <a:ext cx="3246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Se postula o acepta invitación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458200" y="3346704"/>
            <a:ext cx="3246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Ve su agenda diaria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458200" y="3968496"/>
            <a:ext cx="3246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Registra servicios completados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458200" y="4590288"/>
            <a:ext cx="3246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Consulta sus ganancias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30936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97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mismo usuario puede tener los tres roles simultáneamente.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789920" y="65836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7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F"/>
          </a:solidFill>
          <a:ln w="12700">
            <a:solidFill>
              <a:srgbClr val="F8F7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A97BFF"/>
          </a:solidFill>
          <a:ln w="12700">
            <a:solidFill>
              <a:srgbClr val="A97B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A1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 ·  Funcionalidades Desarrolladas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841248"/>
            <a:ext cx="10881360" cy="36576"/>
          </a:xfrm>
          <a:prstGeom prst="rect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3657600" cy="2578608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6350">
            <a:solidFill>
              <a:srgbClr val="834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430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1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🔐 Autenticación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1600200"/>
            <a:ext cx="3291840" cy="27432"/>
          </a:xfrm>
          <a:prstGeom prst="rect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71907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Login email / Google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21579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Registro 3 pasos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2596896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Recuperación de contraseña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303580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Biometría (huella / rostro)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97680" y="1005840"/>
            <a:ext cx="3657600" cy="2578608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6350">
            <a:solidFill>
              <a:srgbClr val="834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480560" y="11430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1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🏠 Explorador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480560" y="1600200"/>
            <a:ext cx="3291840" cy="27432"/>
          </a:xfrm>
          <a:prstGeom prst="rect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171907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Buscar negocios cercanos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26280" y="21579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Filtro por categoría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26280" y="2596896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Perfil detallado del negocio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26280" y="303580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Galería de trabajos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229600" y="1005840"/>
            <a:ext cx="3657600" cy="2578608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6350">
            <a:solidFill>
              <a:srgbClr val="834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412480" y="11430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1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📅 Reservas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412480" y="1600200"/>
            <a:ext cx="3291840" cy="27432"/>
          </a:xfrm>
          <a:prstGeom prst="rect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58200" y="171907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Selección multi-servicio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458200" y="215798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Motor anti-conflictos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458200" y="2596896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Calendario interactivo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458200" y="303580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Reprogramar y cancelar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3840480"/>
            <a:ext cx="3657600" cy="2578608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6350">
            <a:solidFill>
              <a:srgbClr val="834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48640" y="3977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1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🛠️ Panel Admin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48640" y="4434840"/>
            <a:ext cx="3291840" cy="27432"/>
          </a:xfrm>
          <a:prstGeom prst="rect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455371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Dashboard con KPIs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94360" y="499262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Gestión de servicios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94360" y="5431536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Gestión de productos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94360" y="587044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Cierre de caja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297680" y="3840480"/>
            <a:ext cx="3657600" cy="2578608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6350">
            <a:solidFill>
              <a:srgbClr val="834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480560" y="3977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1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👥 Equipo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4480560" y="4434840"/>
            <a:ext cx="3291840" cy="27432"/>
          </a:xfrm>
          <a:prstGeom prst="rect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26280" y="455371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Postulaciones con CV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526280" y="499262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Invitación directa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526280" y="5431536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Agenda del empleado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526280" y="587044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Ganancias por período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229600" y="3840480"/>
            <a:ext cx="3657600" cy="2578608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6350">
            <a:solidFill>
              <a:srgbClr val="834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8412480" y="3977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1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📣 Social &amp; Fidelización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8412480" y="4434840"/>
            <a:ext cx="3291840" cy="27432"/>
          </a:xfrm>
          <a:prstGeom prst="rect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58200" y="455371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Feed de publicaciones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8458200" y="499262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Likes y guardados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458200" y="5431536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Puntos y sellos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8458200" y="587044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Notificaciones locales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10789920" y="65836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033"/>
          </a:solidFill>
          <a:ln w="12700">
            <a:solidFill>
              <a:srgbClr val="1A1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 ·  Arquitectura Técnica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841248"/>
            <a:ext cx="10881360" cy="36576"/>
          </a:xfrm>
          <a:prstGeom prst="rect">
            <a:avLst/>
          </a:prstGeom>
          <a:solidFill>
            <a:srgbClr val="A97BFF"/>
          </a:solidFill>
          <a:ln w="12700">
            <a:solidFill>
              <a:srgbClr val="A97B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05840"/>
            <a:ext cx="5669280" cy="1115568"/>
          </a:xfrm>
          <a:prstGeom prst="roundRect">
            <a:avLst>
              <a:gd name="adj" fmla="val 9836"/>
            </a:avLst>
          </a:prstGeom>
          <a:solidFill>
            <a:srgbClr val="5A1FCC"/>
          </a:solidFill>
          <a:ln w="6350">
            <a:solidFill>
              <a:srgbClr val="834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05840"/>
            <a:ext cx="201168" cy="1115568"/>
          </a:xfrm>
          <a:prstGeom prst="rect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078992"/>
            <a:ext cx="5166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34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146304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7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Screens · Widgets · Riverpod Providers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5669280" cy="1115568"/>
          </a:xfrm>
          <a:prstGeom prst="roundRect">
            <a:avLst>
              <a:gd name="adj" fmla="val 9836"/>
            </a:avLst>
          </a:prstGeom>
          <a:solidFill>
            <a:srgbClr val="5A1FCC"/>
          </a:solidFill>
          <a:ln w="6350">
            <a:solidFill>
              <a:srgbClr val="834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286000"/>
            <a:ext cx="201168" cy="1115568"/>
          </a:xfrm>
          <a:prstGeom prst="rect">
            <a:avLst/>
          </a:prstGeom>
          <a:solidFill>
            <a:srgbClr val="A97BFF"/>
          </a:solidFill>
          <a:ln w="12700">
            <a:solidFill>
              <a:srgbClr val="A97B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359152"/>
            <a:ext cx="5166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97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DOMAIN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" y="274320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7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Entities · Use Cases · Repository Interfaces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5669280" cy="1115568"/>
          </a:xfrm>
          <a:prstGeom prst="roundRect">
            <a:avLst>
              <a:gd name="adj" fmla="val 9836"/>
            </a:avLst>
          </a:prstGeom>
          <a:solidFill>
            <a:srgbClr val="5A1FCC"/>
          </a:solidFill>
          <a:ln w="6350">
            <a:solidFill>
              <a:srgbClr val="834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566160"/>
            <a:ext cx="201168" cy="1115568"/>
          </a:xfrm>
          <a:prstGeom prst="rect">
            <a:avLst/>
          </a:prstGeom>
          <a:solidFill>
            <a:srgbClr val="5A1FCC"/>
          </a:solidFill>
          <a:ln w="12700">
            <a:solidFill>
              <a:srgbClr val="5A1F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639312"/>
            <a:ext cx="5166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1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402336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7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Firebase Repositories · Mappers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846320"/>
            <a:ext cx="5669280" cy="1115568"/>
          </a:xfrm>
          <a:prstGeom prst="roundRect">
            <a:avLst>
              <a:gd name="adj" fmla="val 9836"/>
            </a:avLst>
          </a:prstGeom>
          <a:solidFill>
            <a:srgbClr val="5A1FCC"/>
          </a:solidFill>
          <a:ln w="6350">
            <a:solidFill>
              <a:srgbClr val="834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4846320"/>
            <a:ext cx="201168" cy="1115568"/>
          </a:xfrm>
          <a:prstGeom prst="rect">
            <a:avLst/>
          </a:prstGeom>
          <a:solidFill>
            <a:srgbClr val="3A3A5A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919472"/>
            <a:ext cx="5166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3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INFRAESTRUCTURA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77240" y="530352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7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Firestore · Auth · Storage · FCM · Cloud Functions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92240" y="987552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97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Stack Tecnológico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92240" y="1444752"/>
            <a:ext cx="5212080" cy="530352"/>
          </a:xfrm>
          <a:prstGeom prst="rect">
            <a:avLst/>
          </a:prstGeom>
          <a:solidFill>
            <a:srgbClr val="5A1FCC"/>
          </a:solidFill>
          <a:ln w="12700">
            <a:solidFill>
              <a:srgbClr val="5A1F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151790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686800" y="1517904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Flutter (Dart)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92240" y="2011680"/>
            <a:ext cx="5212080" cy="530352"/>
          </a:xfrm>
          <a:prstGeom prst="rect">
            <a:avLst/>
          </a:prstGeom>
          <a:solidFill>
            <a:srgbClr val="1A1033"/>
          </a:solidFill>
          <a:ln w="12700">
            <a:solidFill>
              <a:srgbClr val="1A10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208483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Estado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686800" y="208483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Riverpod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92240" y="2578608"/>
            <a:ext cx="5212080" cy="530352"/>
          </a:xfrm>
          <a:prstGeom prst="rect">
            <a:avLst/>
          </a:prstGeom>
          <a:solidFill>
            <a:srgbClr val="5A1FCC"/>
          </a:solidFill>
          <a:ln w="12700">
            <a:solidFill>
              <a:srgbClr val="5A1F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0" y="26517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Navegación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686800" y="265176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GoRouter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92240" y="3145536"/>
            <a:ext cx="5212080" cy="530352"/>
          </a:xfrm>
          <a:prstGeom prst="rect">
            <a:avLst/>
          </a:prstGeom>
          <a:solidFill>
            <a:srgbClr val="1A1033"/>
          </a:solidFill>
          <a:ln w="12700">
            <a:solidFill>
              <a:srgbClr val="1A10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0" y="321868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 de datos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686800" y="321868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Firestore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92240" y="3712464"/>
            <a:ext cx="5212080" cy="530352"/>
          </a:xfrm>
          <a:prstGeom prst="rect">
            <a:avLst/>
          </a:prstGeom>
          <a:solidFill>
            <a:srgbClr val="5A1FCC"/>
          </a:solidFill>
          <a:ln w="12700">
            <a:solidFill>
              <a:srgbClr val="5A1F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0" y="378561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686800" y="3785616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Firebase Auth + JWT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92240" y="4279392"/>
            <a:ext cx="5212080" cy="530352"/>
          </a:xfrm>
          <a:prstGeom prst="rect">
            <a:avLst/>
          </a:prstGeom>
          <a:solidFill>
            <a:srgbClr val="1A1033"/>
          </a:solidFill>
          <a:ln w="12700">
            <a:solidFill>
              <a:srgbClr val="1A10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83680" y="435254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Notificaciones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686800" y="4352544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FCM + Local Notifications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492240" y="4846320"/>
            <a:ext cx="5212080" cy="530352"/>
          </a:xfrm>
          <a:prstGeom prst="rect">
            <a:avLst/>
          </a:prstGeom>
          <a:solidFill>
            <a:srgbClr val="5A1FCC"/>
          </a:solidFill>
          <a:ln w="12700">
            <a:solidFill>
              <a:srgbClr val="5A1F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0" y="49194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Pagos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686800" y="491947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MercadoPago / PayU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492240" y="5413248"/>
            <a:ext cx="5212080" cy="530352"/>
          </a:xfrm>
          <a:prstGeom prst="rect">
            <a:avLst/>
          </a:prstGeom>
          <a:solidFill>
            <a:srgbClr val="1A1033"/>
          </a:solidFill>
          <a:ln w="12700">
            <a:solidFill>
              <a:srgbClr val="1A10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83680" y="54864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Archivos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686800" y="548640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Firebase Storage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492240" y="5980176"/>
            <a:ext cx="5212080" cy="530352"/>
          </a:xfrm>
          <a:prstGeom prst="rect">
            <a:avLst/>
          </a:prstGeom>
          <a:solidFill>
            <a:srgbClr val="5A1FCC"/>
          </a:solidFill>
          <a:ln w="12700">
            <a:solidFill>
              <a:srgbClr val="5A1F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83680" y="605332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CI/CD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686800" y="605332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Actions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0789920" y="65836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7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F"/>
          </a:solidFill>
          <a:ln w="12700">
            <a:solidFill>
              <a:srgbClr val="F8F7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A97BFF"/>
          </a:solidFill>
          <a:ln w="12700">
            <a:solidFill>
              <a:srgbClr val="A97B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A1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 ·  Demo de la Aplicación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841248"/>
            <a:ext cx="10881360" cy="36576"/>
          </a:xfrm>
          <a:prstGeom prst="rect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24128"/>
            <a:ext cx="4114800" cy="5486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6350">
            <a:solidFill>
              <a:srgbClr val="834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57400" y="2286000"/>
            <a:ext cx="914400" cy="914400"/>
          </a:xfrm>
          <a:prstGeom prst="ellipse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57400" y="2286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📱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Captura de pantalla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video en vivo aquí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92040" y="1024128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A1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Flujo de Demo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892040" y="1600200"/>
            <a:ext cx="681228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6350">
            <a:solidFill>
              <a:srgbClr val="834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47488" y="1709928"/>
            <a:ext cx="530352" cy="530352"/>
          </a:xfrm>
          <a:prstGeom prst="ellipse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47488" y="170992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687568" y="169164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1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Registro e Inicio de Sesión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687568" y="1993392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Usuario se registra, el sistema detecta su rol automáticamente.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92040" y="2423160"/>
            <a:ext cx="681228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6350">
            <a:solidFill>
              <a:srgbClr val="834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47488" y="2532888"/>
            <a:ext cx="530352" cy="530352"/>
          </a:xfrm>
          <a:prstGeom prst="ellipse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47488" y="253288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687568" y="251460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1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Explorador de Negocios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687568" y="2816352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Busca barberías o estéticas por categoría o ubicación.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92040" y="3246120"/>
            <a:ext cx="681228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6350">
            <a:solidFill>
              <a:srgbClr val="834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47488" y="3355848"/>
            <a:ext cx="530352" cy="530352"/>
          </a:xfrm>
          <a:prstGeom prst="ellipse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47488" y="335584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687568" y="333756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1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Perfil del Negocio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687568" y="3639312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 servicios, galería, profesionales y reseñas.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92040" y="4069080"/>
            <a:ext cx="681228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6350">
            <a:solidFill>
              <a:srgbClr val="834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047488" y="4178808"/>
            <a:ext cx="530352" cy="530352"/>
          </a:xfrm>
          <a:prstGeom prst="ellipse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47488" y="417880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687568" y="416052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1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Agendamiento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687568" y="4462272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Selecciona servicio, empleado, fecha y hora. Confirma cita.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92040" y="4892040"/>
            <a:ext cx="681228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6350">
            <a:solidFill>
              <a:srgbClr val="834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047488" y="5001768"/>
            <a:ext cx="530352" cy="530352"/>
          </a:xfrm>
          <a:prstGeom prst="ellipse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47488" y="500176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687568" y="498348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1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Panel Administrativo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687568" y="5285232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Dueño gestiona citas del día, servicios, equipo y finanzas.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92040" y="5715000"/>
            <a:ext cx="681228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6350">
            <a:solidFill>
              <a:srgbClr val="834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047488" y="5824728"/>
            <a:ext cx="530352" cy="530352"/>
          </a:xfrm>
          <a:prstGeom prst="ellipse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47488" y="582472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687568" y="580644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1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Modo Empleado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687568" y="6108192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Profesional ve su agenda, completa servicios y revisa ganancias.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0789920" y="65836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033"/>
          </a:solidFill>
          <a:ln w="12700">
            <a:solidFill>
              <a:srgbClr val="1A1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 ·  Modelo de Negocio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841248"/>
            <a:ext cx="10881360" cy="36576"/>
          </a:xfrm>
          <a:prstGeom prst="rect">
            <a:avLst/>
          </a:prstGeom>
          <a:solidFill>
            <a:srgbClr val="A97BFF"/>
          </a:solidFill>
          <a:ln w="12700">
            <a:solidFill>
              <a:srgbClr val="A97B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2743200" cy="4251960"/>
          </a:xfrm>
          <a:prstGeom prst="roundRect">
            <a:avLst>
              <a:gd name="adj" fmla="val 4000"/>
            </a:avLst>
          </a:prstGeom>
          <a:solidFill>
            <a:srgbClr val="5A1FCC"/>
          </a:solidFill>
          <a:ln w="6350">
            <a:solidFill>
              <a:srgbClr val="834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280160" y="1188720"/>
            <a:ext cx="914400" cy="914400"/>
          </a:xfrm>
          <a:prstGeom prst="ellipse">
            <a:avLst/>
          </a:prstGeom>
          <a:solidFill>
            <a:srgbClr val="A97BFF"/>
          </a:solidFill>
          <a:ln w="12700">
            <a:solidFill>
              <a:srgbClr val="A97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1188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🆓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02920" y="2240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97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Freemium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2743200"/>
            <a:ext cx="1828800" cy="36576"/>
          </a:xfrm>
          <a:prstGeom prst="rect">
            <a:avLst/>
          </a:prstGeom>
          <a:solidFill>
            <a:srgbClr val="A97BFF"/>
          </a:solidFill>
          <a:ln w="12700">
            <a:solidFill>
              <a:srgbClr val="A97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880360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7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Agendamiento básico gratuito para atraer negocios sin fricción inicial.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91840" y="1005840"/>
            <a:ext cx="2743200" cy="4251960"/>
          </a:xfrm>
          <a:prstGeom prst="roundRect">
            <a:avLst>
              <a:gd name="adj" fmla="val 4000"/>
            </a:avLst>
          </a:prstGeom>
          <a:solidFill>
            <a:srgbClr val="5A1FCC"/>
          </a:solidFill>
          <a:ln w="6350">
            <a:solidFill>
              <a:srgbClr val="834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06240" y="1188720"/>
            <a:ext cx="914400" cy="91440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0" y="1188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📦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429000" y="2240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Suscripción Pro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749040" y="2743200"/>
            <a:ext cx="1828800" cy="3657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2880360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7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mensual con reportes financieros, dashboard avanzado y soporte 24/7.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17920" y="1005840"/>
            <a:ext cx="2743200" cy="4251960"/>
          </a:xfrm>
          <a:prstGeom prst="roundRect">
            <a:avLst>
              <a:gd name="adj" fmla="val 4000"/>
            </a:avLst>
          </a:prstGeom>
          <a:solidFill>
            <a:srgbClr val="5A1FCC"/>
          </a:solidFill>
          <a:ln w="6350">
            <a:solidFill>
              <a:srgbClr val="834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32320" y="1188720"/>
            <a:ext cx="914400" cy="91440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0" y="1188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💳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355080" y="2240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Comisión por pago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675120" y="2743200"/>
            <a:ext cx="1828800" cy="36576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2880360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7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3-5% por transacción procesada a través de la plataforma integrada.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144000" y="1005840"/>
            <a:ext cx="2743200" cy="4251960"/>
          </a:xfrm>
          <a:prstGeom prst="roundRect">
            <a:avLst>
              <a:gd name="adj" fmla="val 4000"/>
            </a:avLst>
          </a:prstGeom>
          <a:solidFill>
            <a:srgbClr val="5A1FCC"/>
          </a:solidFill>
          <a:ln w="6350">
            <a:solidFill>
              <a:srgbClr val="834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058400" y="1188720"/>
            <a:ext cx="91440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0" y="1188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⭐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9281160" y="2240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Loyalty Premium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9601200" y="2743200"/>
            <a:ext cx="18288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81160" y="2880360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7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Módulo de puntos, sellos y campañas de retención de clientes personalizadas.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548640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Propuesta de valor: Una plataforma. Todos los roles. Un ecosistema digital para negocios de servicios.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0789920" y="65836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7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033"/>
          </a:solidFill>
          <a:ln w="12700">
            <a:solidFill>
              <a:srgbClr val="1A1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-1828800"/>
            <a:ext cx="5943600" cy="5943600"/>
          </a:xfrm>
          <a:prstGeom prst="ellipse">
            <a:avLst/>
          </a:prstGeom>
          <a:solidFill>
            <a:srgbClr val="5A1FCC"/>
          </a:solidFill>
          <a:ln w="12700">
            <a:solidFill>
              <a:srgbClr val="5A1F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0" y="3657600"/>
            <a:ext cx="5029200" cy="5029200"/>
          </a:xfrm>
          <a:prstGeom prst="ellipse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97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 ·  Equipo de Desarrollo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91440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FlowServ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914400" y="20116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97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Construido con ❤️ en Cali, Colombia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2834640"/>
            <a:ext cx="1463040" cy="1463040"/>
          </a:xfrm>
          <a:prstGeom prst="ellipse">
            <a:avLst/>
          </a:prstGeom>
          <a:solidFill>
            <a:srgbClr val="5A1FCC"/>
          </a:solidFill>
          <a:ln w="12700">
            <a:solidFill>
              <a:srgbClr val="A97B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83464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👤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" y="440740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Integrante 1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035808" y="2834640"/>
            <a:ext cx="1463040" cy="1463040"/>
          </a:xfrm>
          <a:prstGeom prst="ellipse">
            <a:avLst/>
          </a:prstGeom>
          <a:solidFill>
            <a:srgbClr val="5A1FCC"/>
          </a:solidFill>
          <a:ln w="12700">
            <a:solidFill>
              <a:srgbClr val="A97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35808" y="283464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👤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761488" y="440740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Integrante 2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340096" y="2834640"/>
            <a:ext cx="1463040" cy="1463040"/>
          </a:xfrm>
          <a:prstGeom prst="ellipse">
            <a:avLst/>
          </a:prstGeom>
          <a:solidFill>
            <a:srgbClr val="5A1FCC"/>
          </a:solidFill>
          <a:ln w="12700">
            <a:solidFill>
              <a:srgbClr val="A97B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0096" y="283464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👤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065776" y="440740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Integrante 3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644384" y="2834640"/>
            <a:ext cx="1463040" cy="1463040"/>
          </a:xfrm>
          <a:prstGeom prst="ellipse">
            <a:avLst/>
          </a:prstGeom>
          <a:solidFill>
            <a:srgbClr val="5A1FCC"/>
          </a:solidFill>
          <a:ln w="12700">
            <a:solidFill>
              <a:srgbClr val="A97B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44384" y="283464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👤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7370064" y="440740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Integrante 4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948672" y="2834640"/>
            <a:ext cx="1463040" cy="1463040"/>
          </a:xfrm>
          <a:prstGeom prst="ellipse">
            <a:avLst/>
          </a:prstGeom>
          <a:solidFill>
            <a:srgbClr val="5A1FCC"/>
          </a:solidFill>
          <a:ln w="12700">
            <a:solidFill>
              <a:srgbClr val="A97B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48672" y="283464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👤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674352" y="440740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Integrante 5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0" y="4956048"/>
            <a:ext cx="5486400" cy="54864"/>
          </a:xfrm>
          <a:prstGeom prst="rect">
            <a:avLst/>
          </a:prstGeom>
          <a:solidFill>
            <a:srgbClr val="8344FF"/>
          </a:solidFill>
          <a:ln w="12700">
            <a:solidFill>
              <a:srgbClr val="834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51663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¡Gracias por su atención! — Preguntas bienvenidas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4400" y="5715000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📧 flowserv@team.co  ·  📱 GitHub: /flowserv  ·  🌐 Cali, Colombia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789920" y="65836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7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2026-05-25T23:07:10Z</dcterms:created>
  <dcterms:modified xsi:type="dcterms:W3CDTF">2026-05-25T23:07:10Z</dcterms:modified>
</cp:coreProperties>
</file>